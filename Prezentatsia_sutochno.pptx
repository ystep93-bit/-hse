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Play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F970CF-F080-46B9-AE79-EB1531536116}">
  <a:tblStyle styleId="{ECF970CF-F080-46B9-AE79-EB15315361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89" autoAdjust="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Здравствуйте. Тема моего итогового проекта - анализ тональности и тематики отзывов пользователей Суточно.ру. Я рассмотрела, что можно узнать из текста отзывов, если не ограничиваться выставленной оценкой. Для этого собрала данные, выделила основные темы и сравнила несколько подходов к оценке тональности.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Отзывы важны, потому что через них пользователи сообщают о качестве проживания и возникающих трудностях. Но высокая общая оценка не гарантирует, что в тексте нет замечаний по отдельным аспектам. Цель проекта - выяснить, какие проблемы упоминают гости и насколько оценка числом согласуется с эмоциональной окраской текста. Для этого необходимо собрать и очистить отзывы, определить темы и тональность, сопоставить результаты и сформулировать направления для улучшений.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первом этапе был реализован сбор данных с сайта Суточно.ру. Исходно получено 150 тысяч 79 уникальных отзывов. Далее я проверила заполненность полей и дубликаты. Из-за пропусков в отдельных оценочных характеристиках удалено 2 тысячи 828 записей. Затем исключено 20 тысяч 53 записи, не содержащие содержательного текста отзыва. При тематическом моделировании был также выделен и исключён отдельный кластер из 15 тысяч 118 коротких или шаблонных сообщений. В итоге для основного анализа осталось 112 тысяч 80 отзывов. Последний шаг - эвристическая фильтрация, поэтому он требует дальнейшей ручной проверки.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проекте использовано несколько дополняющих друг друга методов. Сначала тексты очищались: выполнялись нормализация регистра, токенизация, лемматизация и удаление стоп-слов. Для поиска тем применялась модель LDA, которая анализирует частоты слов и выделяет тематические группы без заранее заданных названий. Затем предобученная модель RuBERT определяла положительную, нейтральную либо отрицательную тональность текста. Отдельно была обучена модель TF-IDF и логистической регрессии, у которой целевые классы формировались из числовых оценок гостей.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LDA первоначально выделила семь тематических кластеров. После просмотра характерных слов и примеров отзывов два близких кластера впечатлений были объединены, а кластер шаблонных сообщений исключён. В итоге анализировались пять содержательных тем. Это благодарность хозяевам, впечатления от отдыха, расположение и инфраструктура, организация заселения и проживания, а также состояние и оснащение квартиры. Такой подход позволяет перейти от общего уровня удовлетворённости к конкретным направлениям обратной связи.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этом слайде сравниваются два способа оценки. По рейтингу положительными считаются отзывы с оценкой от восьми баллов, нейтральными - от шести до менее восьми, отрицательными - ниже шести. При таком разделении положительных отзывов оказалось 92,22 процента. RuBERT, напротив, анализирует текст и относит к положительным 79,42 процента отзывов. Доля отрицательных по рейтингу составляет 2,56 процента, а по RuBERT - 7,68 процента. Доля нейтральных тоже выше: 12,90 против 5,23 процента. Это не означает, что один подход обязательно ошибочен: они измеряют разные характеристики опыта.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Самые показательные расхождения касаются двух тем. В теме организации заселения и проживания доля отрицательных отзывов по оценкам равна 13,9 процента, а по RuBERT - 25,9 процента. В теме состояния и оснащения квартиры соответствующие показатели равны 5,9 и 21,3 процента. Кроме того, RuBERT чаще определяет нейтральные формулировки в обеих темах. Поэтому именно здесь целесообразно провести ручной анализ жалоб: выяснить, какие конкретные ситуации скрываются за критическими формулировками, а не делать вывод только по общей оценке.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Дополнительно я обучила классификатор на основе TF-IDF и логистической регрессии. Данные были разделены на обучающую и тестовую части в пропорции 70 на 30 процентов со стратификацией по классам. На тестовой выборке из 33 тысяч 624 отзывов accuracy составила примерно 90 процентов, а macro F1 - 0,64. При этом F1 для положительных отзывов равен 0,95, для отрицательных - 0,55, для нейтральных - 0,41. Поэтому общая точность не должна вводить в заблуждение: классы очень несбалансированы, и распознавание редких категорий нуждается в улучшении.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 результатам проекта я выделила два приоритетных направления проверки. Первое - состояние и оснащение жилья: стоит дополнительно исследовать замечания о чистоте, исправности техники, мебели и соответствии описанию. Второе - организация заселения и проживания: важны инструкции, передача ключей, доступность связи с владельцем и помощь в решении вопросов. Это не установленные факты о качестве всех объектов площадки, а направления, которые указывают результаты моделей и которые следует подтвердить ручным анализом отзывов.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 работы есть ограничения. Темы LDA получены автоматически, а их названия присвоены после интерпретации. Часть коротких сообщений удалена эвристически. Кроме того, модель RuBERT определяет тональность текста, а обученный классификатор пытается воспроизвести классы по рейтингу. Поэтому нельзя считать их оценки полностью эквивалентными. В дальнейшем я бы проверила случайную выборку отзывов вручную, уточнила качество тематической разметки, попробовала методы балансировки классов и добавила отслеживание изменений тем и тональности во времени.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итог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в </a:t>
            </a:r>
            <a:r>
              <a:rPr dirty="0" err="1"/>
              <a:t>том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 </a:t>
            </a:r>
            <a:r>
              <a:rPr dirty="0" err="1"/>
              <a:t>действительно</a:t>
            </a:r>
            <a:r>
              <a:rPr dirty="0"/>
              <a:t> </a:t>
            </a:r>
            <a:r>
              <a:rPr dirty="0" err="1"/>
              <a:t>дополняет</a:t>
            </a:r>
            <a:r>
              <a:rPr dirty="0"/>
              <a:t> </a:t>
            </a:r>
            <a:r>
              <a:rPr dirty="0" err="1"/>
              <a:t>числовые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.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критические</a:t>
            </a:r>
            <a:r>
              <a:rPr dirty="0"/>
              <a:t> </a:t>
            </a:r>
            <a:r>
              <a:rPr dirty="0" err="1"/>
              <a:t>замечания</a:t>
            </a:r>
            <a:r>
              <a:rPr dirty="0"/>
              <a:t>,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общая</a:t>
            </a:r>
            <a:r>
              <a:rPr dirty="0"/>
              <a:t> </a:t>
            </a: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проживания</a:t>
            </a:r>
            <a:r>
              <a:rPr dirty="0"/>
              <a:t> </a:t>
            </a:r>
            <a:r>
              <a:rPr dirty="0" err="1"/>
              <a:t>высокая</a:t>
            </a:r>
            <a:r>
              <a:rPr dirty="0"/>
              <a:t>. </a:t>
            </a:r>
            <a:r>
              <a:rPr dirty="0" err="1"/>
              <a:t>Приоритетные</a:t>
            </a:r>
            <a:r>
              <a:rPr dirty="0"/>
              <a:t> </a:t>
            </a:r>
            <a:r>
              <a:rPr dirty="0" err="1"/>
              <a:t>направления</a:t>
            </a:r>
            <a:r>
              <a:rPr dirty="0"/>
              <a:t> </a:t>
            </a:r>
            <a:r>
              <a:rPr dirty="0" err="1"/>
              <a:t>дальнейшего</a:t>
            </a:r>
            <a:r>
              <a:rPr dirty="0"/>
              <a:t> </a:t>
            </a:r>
            <a:r>
              <a:rPr dirty="0" err="1"/>
              <a:t>изучения</a:t>
            </a:r>
            <a:r>
              <a:rPr dirty="0"/>
              <a:t> -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жилья</a:t>
            </a:r>
            <a:r>
              <a:rPr dirty="0"/>
              <a:t> и </a:t>
            </a:r>
            <a:r>
              <a:rPr dirty="0" err="1"/>
              <a:t>организация</a:t>
            </a:r>
            <a:r>
              <a:rPr dirty="0"/>
              <a:t> </a:t>
            </a:r>
            <a:r>
              <a:rPr dirty="0" err="1"/>
              <a:t>заселения</a:t>
            </a:r>
            <a:r>
              <a:rPr dirty="0"/>
              <a:t>. </a:t>
            </a:r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608" y="978408"/>
            <a:ext cx="6766560" cy="402336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82880"/>
            <a:ext cx="512064" cy="512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" y="192024"/>
            <a:ext cx="4206240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C69"/>
                </a:solidFill>
                <a:latin typeface="Arial"/>
              </a:rPr>
              <a:t>ЦЕНТР НЕПРЕРЫВНОГО ОБРАЗОВАНИЯ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C69"/>
                </a:solidFill>
                <a:latin typeface="Arial"/>
              </a:rPr>
              <a:t>ФАКУЛЬТЕТ КОМПЬЮТЕРНЫХ НАУК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817352"/>
            <a:ext cx="6766560" cy="1421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3000" b="1" dirty="0">
                <a:solidFill>
                  <a:srgbClr val="0B2C69"/>
                </a:solidFill>
                <a:latin typeface="Arial"/>
              </a:rPr>
              <a:t>Сбор и а</a:t>
            </a:r>
            <a:r>
              <a:rPr sz="3000" b="1" dirty="0" err="1">
                <a:solidFill>
                  <a:srgbClr val="0B2C69"/>
                </a:solidFill>
                <a:latin typeface="Arial"/>
              </a:rPr>
              <a:t>нализ</a:t>
            </a:r>
            <a:r>
              <a:rPr sz="3000" b="1" dirty="0">
                <a:solidFill>
                  <a:srgbClr val="0B2C69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B2C69"/>
                </a:solidFill>
                <a:latin typeface="Arial"/>
              </a:rPr>
              <a:t>тональности</a:t>
            </a:r>
            <a:endParaRPr sz="3000" b="1" dirty="0">
              <a:solidFill>
                <a:srgbClr val="0B2C69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B2C69"/>
                </a:solidFill>
                <a:latin typeface="Arial"/>
              </a:rPr>
              <a:t>и </a:t>
            </a:r>
            <a:r>
              <a:rPr sz="3000" b="1" dirty="0" err="1">
                <a:solidFill>
                  <a:srgbClr val="0B2C69"/>
                </a:solidFill>
                <a:latin typeface="Arial"/>
              </a:rPr>
              <a:t>тематики</a:t>
            </a:r>
            <a:r>
              <a:rPr sz="3000" b="1" dirty="0">
                <a:solidFill>
                  <a:srgbClr val="0B2C69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B2C69"/>
                </a:solidFill>
                <a:latin typeface="Arial"/>
              </a:rPr>
              <a:t>отзывов</a:t>
            </a:r>
            <a:r>
              <a:rPr lang="ru-RU" sz="3000" b="1">
                <a:solidFill>
                  <a:srgbClr val="0B2C69"/>
                </a:solidFill>
                <a:latin typeface="Arial"/>
              </a:rPr>
              <a:t> сайта</a:t>
            </a:r>
            <a:endParaRPr sz="3000" b="1" dirty="0">
              <a:solidFill>
                <a:srgbClr val="0B2C69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 err="1">
                <a:solidFill>
                  <a:srgbClr val="0B2C69"/>
                </a:solidFill>
                <a:latin typeface="Arial"/>
              </a:rPr>
              <a:t>Суточно.ру</a:t>
            </a:r>
            <a:endParaRPr sz="3000" b="1" dirty="0">
              <a:solidFill>
                <a:srgbClr val="0B2C69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488" y="3584448"/>
            <a:ext cx="61264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3987"/>
                </a:solidFill>
                <a:latin typeface="Arial"/>
              </a:rPr>
              <a:t>Итоговый проект по анализу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4096512"/>
            <a:ext cx="6126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4455F"/>
                </a:solidFill>
                <a:latin typeface="Arial"/>
              </a:rPr>
              <a:t>112 080 отзывов  |  LDA, RuBERT, TF-IDF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1312" y="4754880"/>
            <a:ext cx="539496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2C69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83210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Задача проекта и её ценность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" y="841248"/>
            <a:ext cx="594360" cy="42976"/>
          </a:xfrm>
          <a:prstGeom prst="rect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932688"/>
            <a:ext cx="85039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5B7A"/>
                </a:solidFill>
                <a:latin typeface="Arial"/>
              </a:rPr>
              <a:t>Почему необходимо анализировать не только итоговый рейтинг?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45736"/>
            <a:ext cx="1078992" cy="318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5B7A"/>
                </a:solidFill>
                <a:latin typeface="Arial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" y="1371600"/>
            <a:ext cx="4069080" cy="208483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99432" y="1371600"/>
            <a:ext cx="4197096" cy="208483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581912"/>
            <a:ext cx="329184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3987"/>
                </a:solidFill>
                <a:latin typeface="Arial"/>
              </a:rPr>
              <a:t>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75104"/>
            <a:ext cx="3456432" cy="8778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2C69"/>
                </a:solidFill>
                <a:latin typeface="Arial"/>
              </a:rPr>
              <a:t>Высокая оценка не исключает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2C69"/>
                </a:solidFill>
                <a:latin typeface="Arial"/>
              </a:rPr>
              <a:t>замечаний в тексте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80360"/>
            <a:ext cx="34747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Отдельные проблемы могут быть не видны по рейтингу.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81912"/>
            <a:ext cx="333756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3987"/>
                </a:solidFill>
                <a:latin typeface="Arial"/>
              </a:rPr>
              <a:t>ЦЕЛЬ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75104"/>
            <a:ext cx="3767328" cy="8778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2C69"/>
                </a:solidFill>
                <a:latin typeface="Arial"/>
              </a:rPr>
              <a:t>Понять, о чём пишут гости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2C69"/>
                </a:solidFill>
                <a:latin typeface="Arial"/>
              </a:rPr>
              <a:t>и как оценивают проживание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80360"/>
            <a:ext cx="3584448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Выделить темы, тональность и направления для проверки.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" y="3675887"/>
            <a:ext cx="2688336" cy="832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5488" y="3858768"/>
            <a:ext cx="374904" cy="37490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3904487"/>
            <a:ext cx="34747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739896"/>
            <a:ext cx="192024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Собрать и очистить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отзывы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82112" y="3675887"/>
            <a:ext cx="2688336" cy="832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19272" y="3858768"/>
            <a:ext cx="374904" cy="37490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3904487"/>
            <a:ext cx="34747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1335" y="3739896"/>
            <a:ext cx="192024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Выделить темы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и тональность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25896" y="3675887"/>
            <a:ext cx="2688336" cy="832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63056" y="3858768"/>
            <a:ext cx="374904" cy="37490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81344" y="3904487"/>
            <a:ext cx="34747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739896"/>
            <a:ext cx="192024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Сравнить оценки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и текст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83210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Данные: от сбора до итоговой выборки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" y="841248"/>
            <a:ext cx="594360" cy="42976"/>
          </a:xfrm>
          <a:prstGeom prst="rect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932688"/>
            <a:ext cx="85039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5B7A"/>
                </a:solidFill>
                <a:latin typeface="Arial"/>
              </a:rPr>
              <a:t>Пошаговая очистка данных и отбор текстовых отзывов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45736"/>
            <a:ext cx="1078992" cy="318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5B7A"/>
                </a:solidFill>
                <a:latin typeface="Arial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6446" y="1458468"/>
            <a:ext cx="2039112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5318" y="1641348"/>
            <a:ext cx="1801368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150 079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478" y="2299716"/>
            <a:ext cx="1517904" cy="32004"/>
          </a:xfrm>
          <a:prstGeom prst="rect">
            <a:avLst/>
          </a:prstGeom>
          <a:solidFill>
            <a:srgbClr val="523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5318" y="2436876"/>
            <a:ext cx="180136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Исходная выборка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606" y="2921508"/>
            <a:ext cx="176479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55F"/>
                </a:solidFill>
                <a:latin typeface="Arial"/>
              </a:rPr>
              <a:t>собранные уникальные отзывы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2989" y="2217420"/>
            <a:ext cx="164592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23987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5014" y="1458468"/>
            <a:ext cx="2039112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93886" y="1641348"/>
            <a:ext cx="1801368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147 251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31046" y="2299716"/>
            <a:ext cx="1517904" cy="32004"/>
          </a:xfrm>
          <a:prstGeom prst="rect">
            <a:avLst/>
          </a:prstGeom>
          <a:solidFill>
            <a:srgbClr val="523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93886" y="2436876"/>
            <a:ext cx="180136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Оценки заполнены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2174" y="2921508"/>
            <a:ext cx="176479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55F"/>
                </a:solidFill>
                <a:latin typeface="Arial"/>
              </a:rPr>
              <a:t>исключено 2 828 записей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1557" y="2217420"/>
            <a:ext cx="164592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23987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3582" y="1458468"/>
            <a:ext cx="2039112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2454" y="1641348"/>
            <a:ext cx="1801368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127 198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9614" y="2299716"/>
            <a:ext cx="1517904" cy="32004"/>
          </a:xfrm>
          <a:prstGeom prst="rect">
            <a:avLst/>
          </a:prstGeom>
          <a:solidFill>
            <a:srgbClr val="523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2454" y="2436876"/>
            <a:ext cx="180136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Есть текст отзыва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0742" y="2921508"/>
            <a:ext cx="176479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55F"/>
                </a:solidFill>
                <a:latin typeface="Arial"/>
              </a:rPr>
              <a:t>исключено 20 053 записи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0126" y="2217420"/>
            <a:ext cx="164592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23987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92150" y="1458468"/>
            <a:ext cx="2039112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1022" y="1641348"/>
            <a:ext cx="1801368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112 080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8182" y="2299716"/>
            <a:ext cx="1517904" cy="32004"/>
          </a:xfrm>
          <a:prstGeom prst="rect">
            <a:avLst/>
          </a:prstGeom>
          <a:solidFill>
            <a:srgbClr val="523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11022" y="2436876"/>
            <a:ext cx="180136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Аналитическая выборка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9310" y="2921508"/>
            <a:ext cx="176479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55F"/>
                </a:solidFill>
                <a:latin typeface="Arial"/>
              </a:rPr>
              <a:t>исключён кластер из 15 118 записей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3886200"/>
            <a:ext cx="8339327" cy="630936"/>
          </a:xfrm>
          <a:prstGeom prst="roundRect">
            <a:avLst>
              <a:gd name="adj" fmla="val 14000"/>
            </a:avLst>
          </a:prstGeom>
          <a:solidFill>
            <a:srgbClr val="E8D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4023360"/>
            <a:ext cx="790956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C69"/>
                </a:solidFill>
                <a:latin typeface="Arial"/>
              </a:rPr>
              <a:t>Важно: тематический кластер исключён эвристически; его состав требует ручной проверки.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83210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Методология: от текста к выводам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" y="841248"/>
            <a:ext cx="594360" cy="42976"/>
          </a:xfrm>
          <a:prstGeom prst="rect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932688"/>
            <a:ext cx="85039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5B7A"/>
                </a:solidFill>
                <a:latin typeface="Arial"/>
              </a:rPr>
              <a:t>Три аналитических подхода для одной выборки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45736"/>
            <a:ext cx="1078992" cy="318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5B7A"/>
                </a:solidFill>
                <a:latin typeface="Arial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" y="1399032"/>
            <a:ext cx="2670048" cy="13350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6344" y="1554480"/>
            <a:ext cx="429768" cy="429768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600200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517904"/>
            <a:ext cx="1883664" cy="4480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Сбор и хранение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66543"/>
            <a:ext cx="2304288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Парсер сайта, SQLite,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1399032"/>
            <a:ext cx="2670048" cy="13350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46703" y="1554480"/>
            <a:ext cx="429768" cy="429768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64991" y="1600200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517904"/>
            <a:ext cx="1883664" cy="4480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Подготовка текста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2066543"/>
            <a:ext cx="2304288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Очистка, лемматизация, стоп-слова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399032"/>
            <a:ext cx="2670048" cy="13350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27064" y="1554480"/>
            <a:ext cx="429768" cy="429768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5352" y="1600200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1517904"/>
            <a:ext cx="1883664" cy="4480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Тематики: LDA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066543"/>
            <a:ext cx="2304288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7 исходных кластеров -&gt; 5 тем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73936" y="2916936"/>
            <a:ext cx="2670048" cy="13350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911095" y="3072384"/>
            <a:ext cx="429768" cy="429768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29384" y="3118104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035808"/>
            <a:ext cx="1883664" cy="4480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Тональность: RuBERT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3584448"/>
            <a:ext cx="2304288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3 класса по эмоциональной окраске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54296" y="2916936"/>
            <a:ext cx="2670048" cy="13350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91456" y="3072384"/>
            <a:ext cx="429768" cy="429768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9744" y="3118104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035808"/>
            <a:ext cx="1883664" cy="4480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Проверка: TF-IDF + LR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3584448"/>
            <a:ext cx="2304288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Классы по оценкам, тестовая выборка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526280"/>
            <a:ext cx="7589520" cy="109728"/>
          </a:xfrm>
          <a:prstGeom prst="rect">
            <a:avLst/>
          </a:prstGeom>
          <a:solidFill>
            <a:srgbClr val="523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83210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Пять содержательных тем отзывов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" y="841248"/>
            <a:ext cx="594360" cy="42976"/>
          </a:xfrm>
          <a:prstGeom prst="rect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932688"/>
            <a:ext cx="85039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5B7A"/>
                </a:solidFill>
                <a:latin typeface="Arial"/>
              </a:rPr>
              <a:t>LDA + интерпретация ключевых слов и примеров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45736"/>
            <a:ext cx="1078992" cy="318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5B7A"/>
                </a:solidFill>
                <a:latin typeface="Arial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" y="1444752"/>
            <a:ext cx="269748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581912"/>
            <a:ext cx="365760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3987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572768"/>
            <a:ext cx="2029968" cy="722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Благодарность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хозяевам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423160"/>
            <a:ext cx="23317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55F"/>
                </a:solidFill>
                <a:latin typeface="Arial"/>
              </a:rPr>
              <a:t>спасибо, благодарность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1444752"/>
            <a:ext cx="269748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2" y="1581912"/>
            <a:ext cx="365760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3987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1572768"/>
            <a:ext cx="2029968" cy="722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Впечатления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от отдыха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423160"/>
            <a:ext cx="23317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55F"/>
                </a:solidFill>
                <a:latin typeface="Arial"/>
              </a:rPr>
              <a:t>уют, понравилось, чисто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444752"/>
            <a:ext cx="269748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1581912"/>
            <a:ext cx="365760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3987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1572768"/>
            <a:ext cx="2029968" cy="722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Расположение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и инфраструктура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423160"/>
            <a:ext cx="23317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55F"/>
                </a:solidFill>
                <a:latin typeface="Arial"/>
              </a:rPr>
              <a:t>метро, магазины, рядом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92224" y="3044952"/>
            <a:ext cx="269748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38528" y="3182112"/>
            <a:ext cx="365760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3987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3172968"/>
            <a:ext cx="2029968" cy="722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Организация заселения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и проживания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4023360"/>
            <a:ext cx="23317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55F"/>
                </a:solidFill>
                <a:latin typeface="Arial"/>
              </a:rPr>
              <a:t>заселение, время, связь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3044952"/>
            <a:ext cx="269748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3182112"/>
            <a:ext cx="365760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3987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3172968"/>
            <a:ext cx="2029968" cy="722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Состояние и оснащение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C69"/>
                </a:solidFill>
                <a:latin typeface="Arial"/>
              </a:rPr>
              <a:t>квартиры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4023360"/>
            <a:ext cx="23317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55F"/>
                </a:solidFill>
                <a:latin typeface="Arial"/>
              </a:rPr>
              <a:t>вода, бельё, полотенца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83210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По оценкам и по RuBERT: разные сигналы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" y="841248"/>
            <a:ext cx="594360" cy="42976"/>
          </a:xfrm>
          <a:prstGeom prst="rect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932688"/>
            <a:ext cx="85039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5B7A"/>
                </a:solidFill>
                <a:latin typeface="Arial"/>
              </a:rPr>
              <a:t>Доля отзывов в каждом классе, % от 112 080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45736"/>
            <a:ext cx="1078992" cy="318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5B7A"/>
                </a:solidFill>
                <a:latin typeface="Arial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484632" y="1344168"/>
            <a:ext cx="164592" cy="164592"/>
          </a:xfrm>
          <a:prstGeom prst="ellipse">
            <a:avLst/>
          </a:prstGeom>
          <a:solidFill>
            <a:srgbClr val="3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298448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Положительные</a:t>
            </a:r>
          </a:p>
        </p:txBody>
      </p:sp>
      <p:sp>
        <p:nvSpPr>
          <p:cNvPr id="9" name="Oval 8"/>
          <p:cNvSpPr/>
          <p:nvPr/>
        </p:nvSpPr>
        <p:spPr>
          <a:xfrm>
            <a:off x="2862072" y="1344168"/>
            <a:ext cx="164592" cy="164592"/>
          </a:xfrm>
          <a:prstGeom prst="ellipse">
            <a:avLst/>
          </a:prstGeom>
          <a:solidFill>
            <a:srgbClr val="E6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90672" y="1298448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Нейтральные</a:t>
            </a:r>
          </a:p>
        </p:txBody>
      </p:sp>
      <p:sp>
        <p:nvSpPr>
          <p:cNvPr id="11" name="Oval 10"/>
          <p:cNvSpPr/>
          <p:nvPr/>
        </p:nvSpPr>
        <p:spPr>
          <a:xfrm>
            <a:off x="5239512" y="1344168"/>
            <a:ext cx="164592" cy="164592"/>
          </a:xfrm>
          <a:prstGeom prst="ellipse">
            <a:avLst/>
          </a:prstGeom>
          <a:solidFill>
            <a:srgbClr val="AD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68112" y="1298448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Отрицательные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01367"/>
            <a:ext cx="1828800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C69"/>
                </a:solidFill>
                <a:latin typeface="Arial"/>
              </a:rPr>
              <a:t>По рейтингу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1874519"/>
            <a:ext cx="5860654" cy="530352"/>
          </a:xfrm>
          <a:prstGeom prst="rect">
            <a:avLst/>
          </a:prstGeom>
          <a:solidFill>
            <a:srgbClr val="3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40279" y="1984248"/>
            <a:ext cx="5824078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Arial"/>
              </a:rPr>
              <a:t>92.22%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3502" y="1874519"/>
            <a:ext cx="332370" cy="530352"/>
          </a:xfrm>
          <a:prstGeom prst="rect">
            <a:avLst/>
          </a:prstGeom>
          <a:solidFill>
            <a:srgbClr val="E6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05873" y="1874519"/>
            <a:ext cx="162690" cy="530352"/>
          </a:xfrm>
          <a:prstGeom prst="rect">
            <a:avLst/>
          </a:prstGeom>
          <a:solidFill>
            <a:srgbClr val="AD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935224"/>
            <a:ext cx="1828800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C69"/>
                </a:solidFill>
                <a:latin typeface="Arial"/>
              </a:rPr>
              <a:t>По RuBERT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2848" y="3008376"/>
            <a:ext cx="5047204" cy="530352"/>
          </a:xfrm>
          <a:prstGeom prst="rect">
            <a:avLst/>
          </a:prstGeom>
          <a:solidFill>
            <a:srgbClr val="3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40279" y="3118104"/>
            <a:ext cx="5010628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79.42%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052" y="3008376"/>
            <a:ext cx="819805" cy="530352"/>
          </a:xfrm>
          <a:prstGeom prst="rect">
            <a:avLst/>
          </a:prstGeom>
          <a:solidFill>
            <a:srgbClr val="E6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87484" y="3118104"/>
            <a:ext cx="783229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12.90%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9857" y="3008376"/>
            <a:ext cx="488070" cy="530352"/>
          </a:xfrm>
          <a:prstGeom prst="rect">
            <a:avLst/>
          </a:prstGeom>
          <a:solidFill>
            <a:srgbClr val="AD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07289" y="3118104"/>
            <a:ext cx="451494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7.68%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" y="4142232"/>
            <a:ext cx="832104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4215384"/>
            <a:ext cx="7891272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C69"/>
                </a:solidFill>
                <a:latin typeface="Arial"/>
              </a:rPr>
              <a:t>В тексте выявлено больше отрицательных (7,68% против 2,56%) и нейтральных оценок (12,90% против 5,23%).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3A2613-07AC-EF73-354B-BBF9BD3C5F97}"/>
              </a:ext>
            </a:extLst>
          </p:cNvPr>
          <p:cNvSpPr txBox="1"/>
          <p:nvPr/>
        </p:nvSpPr>
        <p:spPr>
          <a:xfrm>
            <a:off x="8032764" y="1933081"/>
            <a:ext cx="413846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1100" b="1" dirty="0">
                <a:solidFill>
                  <a:srgbClr val="FFFFFF"/>
                </a:solidFill>
                <a:latin typeface="Arial"/>
              </a:rPr>
              <a:t>5.23 %</a:t>
            </a:r>
            <a:endParaRPr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122C87-3475-6F14-5809-9759D8848A89}"/>
              </a:ext>
            </a:extLst>
          </p:cNvPr>
          <p:cNvSpPr txBox="1"/>
          <p:nvPr/>
        </p:nvSpPr>
        <p:spPr>
          <a:xfrm>
            <a:off x="8383756" y="1848441"/>
            <a:ext cx="206923" cy="5447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1100" b="1" dirty="0">
                <a:solidFill>
                  <a:srgbClr val="FFFFFF"/>
                </a:solidFill>
                <a:latin typeface="Arial"/>
              </a:rPr>
              <a:t>2.56 %</a:t>
            </a:r>
            <a:endParaRPr sz="1100" b="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83210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Где чаще встречаются критические формулировки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" y="841248"/>
            <a:ext cx="594360" cy="42976"/>
          </a:xfrm>
          <a:prstGeom prst="rect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932688"/>
            <a:ext cx="85039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5B7A"/>
                </a:solidFill>
                <a:latin typeface="Arial"/>
              </a:rPr>
              <a:t>Доля негативных отзывов в каждой теме, 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45736"/>
            <a:ext cx="1078992" cy="318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5B7A"/>
                </a:solidFill>
                <a:latin typeface="Arial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325880"/>
            <a:ext cx="8412480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" y="1472184"/>
            <a:ext cx="512064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2C69"/>
                </a:solidFill>
                <a:latin typeface="Arial"/>
              </a:rPr>
              <a:t>Организация заселения и проживания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947672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55F"/>
                </a:solidFill>
                <a:latin typeface="Arial"/>
              </a:rPr>
              <a:t>По оценкам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295144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55F"/>
                </a:solidFill>
                <a:latin typeface="Arial"/>
              </a:rPr>
              <a:t>По RuBERT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4792" y="1929384"/>
            <a:ext cx="1779422" cy="210312"/>
          </a:xfrm>
          <a:prstGeom prst="rect">
            <a:avLst/>
          </a:prstGeom>
          <a:solidFill>
            <a:srgbClr val="523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5654" y="1920240"/>
            <a:ext cx="621792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C69"/>
                </a:solidFill>
                <a:latin typeface="Arial"/>
              </a:rPr>
              <a:t>13.9%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64792" y="2267712"/>
            <a:ext cx="3315614" cy="210312"/>
          </a:xfrm>
          <a:prstGeom prst="rect">
            <a:avLst/>
          </a:prstGeom>
          <a:solidFill>
            <a:srgbClr val="D5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1846" y="2258568"/>
            <a:ext cx="621792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C69"/>
                </a:solidFill>
                <a:latin typeface="Arial"/>
              </a:rPr>
              <a:t>25.9%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737360"/>
            <a:ext cx="16916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Нейтральные,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112264"/>
            <a:ext cx="1737360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2C69"/>
                </a:solidFill>
                <a:latin typeface="Arial"/>
              </a:rPr>
              <a:t>16.0  /  18.7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459736"/>
            <a:ext cx="1792224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55B7A"/>
                </a:solidFill>
                <a:latin typeface="Arial"/>
              </a:rPr>
              <a:t>рейтинг / RuBERT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2944368"/>
            <a:ext cx="8412480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" y="3090672"/>
            <a:ext cx="512064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2C69"/>
                </a:solidFill>
                <a:latin typeface="Arial"/>
              </a:rPr>
              <a:t>Состояние и оснащение квартиры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3566160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55F"/>
                </a:solidFill>
                <a:latin typeface="Arial"/>
              </a:rPr>
              <a:t>По оценкам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" y="3913631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55F"/>
                </a:solidFill>
                <a:latin typeface="Arial"/>
              </a:rPr>
              <a:t>По RuBERT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64792" y="3547872"/>
            <a:ext cx="755294" cy="210312"/>
          </a:xfrm>
          <a:prstGeom prst="rect">
            <a:avLst/>
          </a:prstGeom>
          <a:solidFill>
            <a:srgbClr val="523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11526" y="3538728"/>
            <a:ext cx="621792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C69"/>
                </a:solidFill>
                <a:latin typeface="Arial"/>
              </a:rPr>
              <a:t>5.9%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64792" y="3886200"/>
            <a:ext cx="2726740" cy="210312"/>
          </a:xfrm>
          <a:prstGeom prst="rect">
            <a:avLst/>
          </a:prstGeom>
          <a:solidFill>
            <a:srgbClr val="D5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82972" y="3877056"/>
            <a:ext cx="621792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C69"/>
                </a:solidFill>
                <a:latin typeface="Arial"/>
              </a:rPr>
              <a:t>21.3%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355848"/>
            <a:ext cx="16916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Нейтральные,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730752"/>
            <a:ext cx="1737360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2C69"/>
                </a:solidFill>
                <a:latin typeface="Arial"/>
              </a:rPr>
              <a:t>17.0  /  24.3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078224"/>
            <a:ext cx="1792224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55B7A"/>
                </a:solidFill>
                <a:latin typeface="Arial"/>
              </a:rPr>
              <a:t>рейтинг / RuBERT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83210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Проверка дополнительного классификатора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" y="841248"/>
            <a:ext cx="594360" cy="42976"/>
          </a:xfrm>
          <a:prstGeom prst="rect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932688"/>
            <a:ext cx="85039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5B7A"/>
                </a:solidFill>
                <a:latin typeface="Arial"/>
              </a:rPr>
              <a:t>TF-IDF + логистическая регрессия; тест: 33 624 отзыва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45736"/>
            <a:ext cx="1078992" cy="318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5B7A"/>
                </a:solidFill>
                <a:latin typeface="Arial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280160"/>
            <a:ext cx="2679192" cy="99669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426464"/>
            <a:ext cx="1243584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2C69"/>
                </a:solidFill>
                <a:latin typeface="Arial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490472"/>
            <a:ext cx="1161288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9544" y="1280160"/>
            <a:ext cx="2679192" cy="99669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1426464"/>
            <a:ext cx="1243584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2C69"/>
                </a:solidFill>
                <a:latin typeface="Arial"/>
              </a:rPr>
              <a:t>0,64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490472"/>
            <a:ext cx="1161288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Macro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1280160"/>
            <a:ext cx="2679192" cy="99669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426464"/>
            <a:ext cx="1243584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2C69"/>
                </a:solidFill>
                <a:latin typeface="Arial"/>
              </a:rPr>
              <a:t>0,91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1490472"/>
            <a:ext cx="1161288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Weighted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2450592"/>
            <a:ext cx="8403336" cy="15544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569464"/>
            <a:ext cx="201168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2C69"/>
                </a:solidFill>
                <a:latin typeface="Arial"/>
              </a:rPr>
              <a:t>F1 по классам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944368"/>
            <a:ext cx="204825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Положительный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4912" y="2980944"/>
            <a:ext cx="5065776" cy="164592"/>
          </a:xfrm>
          <a:prstGeom prst="rect">
            <a:avLst/>
          </a:prstGeom>
          <a:solidFill>
            <a:srgbClr val="E4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24912" y="2980944"/>
            <a:ext cx="4812487" cy="164592"/>
          </a:xfrm>
          <a:prstGeom prst="rect">
            <a:avLst/>
          </a:prstGeom>
          <a:solidFill>
            <a:srgbClr val="3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3568" y="2935224"/>
            <a:ext cx="493776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C69"/>
                </a:solidFill>
                <a:latin typeface="Arial"/>
              </a:rPr>
              <a:t>0.95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273552"/>
            <a:ext cx="204825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Отрицательный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24912" y="3310128"/>
            <a:ext cx="5065776" cy="164592"/>
          </a:xfrm>
          <a:prstGeom prst="rect">
            <a:avLst/>
          </a:prstGeom>
          <a:solidFill>
            <a:srgbClr val="E4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24912" y="3310128"/>
            <a:ext cx="2786176" cy="164592"/>
          </a:xfrm>
          <a:prstGeom prst="rect">
            <a:avLst/>
          </a:prstGeom>
          <a:solidFill>
            <a:srgbClr val="523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3568" y="3264408"/>
            <a:ext cx="493776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C69"/>
                </a:solidFill>
                <a:latin typeface="Arial"/>
              </a:rPr>
              <a:t>0.55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602736"/>
            <a:ext cx="2048256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55F"/>
                </a:solidFill>
                <a:latin typeface="Arial"/>
              </a:rPr>
              <a:t>Нейтральный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24912" y="3639312"/>
            <a:ext cx="5065776" cy="164592"/>
          </a:xfrm>
          <a:prstGeom prst="rect">
            <a:avLst/>
          </a:prstGeom>
          <a:solidFill>
            <a:srgbClr val="E4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24912" y="3639312"/>
            <a:ext cx="2076968" cy="164592"/>
          </a:xfrm>
          <a:prstGeom prst="rect">
            <a:avLst/>
          </a:prstGeom>
          <a:solidFill>
            <a:srgbClr val="E6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73568" y="3593592"/>
            <a:ext cx="493776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C69"/>
                </a:solidFill>
                <a:latin typeface="Arial"/>
              </a:rPr>
              <a:t>0.41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" y="4206240"/>
            <a:ext cx="8366760" cy="438912"/>
          </a:xfrm>
          <a:prstGeom prst="roundRect">
            <a:avLst>
              <a:gd name="adj" fmla="val 14000"/>
            </a:avLst>
          </a:prstGeom>
          <a:solidFill>
            <a:srgbClr val="E8D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4251960"/>
            <a:ext cx="8046720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B2C69"/>
                </a:solidFill>
                <a:latin typeface="Arial"/>
              </a:rPr>
              <a:t>Дисбаланс классов: 92,22% меток по рейтингу положительные. Accuracy недостаточно для оценки редких классов.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83210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Практическая ценность: приоритеты проверки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" y="841248"/>
            <a:ext cx="594360" cy="42976"/>
          </a:xfrm>
          <a:prstGeom prst="rect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932688"/>
            <a:ext cx="85039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5B7A"/>
                </a:solidFill>
                <a:latin typeface="Arial"/>
              </a:rPr>
              <a:t>Гипотезы для ручного анализа и улучшения пользовательского опыта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45736"/>
            <a:ext cx="1078992" cy="318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5B7A"/>
                </a:solidFill>
                <a:latin typeface="Arial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" y="1399032"/>
            <a:ext cx="4096512" cy="26974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8640" y="1627632"/>
            <a:ext cx="548640" cy="548640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627632"/>
            <a:ext cx="297180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2C69"/>
                </a:solidFill>
                <a:latin typeface="Arial"/>
              </a:rPr>
              <a:t>Состояние и оснащение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359152"/>
            <a:ext cx="3575304" cy="9418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4455F"/>
                </a:solidFill>
                <a:latin typeface="Arial"/>
              </a:rPr>
              <a:t>Чистота, исправность техники, мебель, комплектность и соответствие фотографиям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3538728"/>
            <a:ext cx="3538728" cy="374904"/>
          </a:xfrm>
          <a:prstGeom prst="roundRect">
            <a:avLst>
              <a:gd name="adj" fmla="val 14000"/>
            </a:avLst>
          </a:prstGeom>
          <a:solidFill>
            <a:srgbClr val="E8D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3602736"/>
            <a:ext cx="3401568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3987"/>
                </a:solidFill>
                <a:latin typeface="Arial"/>
              </a:rPr>
              <a:t>Проверить реальные тексты жалоб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7" y="1399032"/>
            <a:ext cx="4096512" cy="26974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828031" y="1627632"/>
            <a:ext cx="548640" cy="548640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55464" y="176479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5" y="1627632"/>
            <a:ext cx="297180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2C69"/>
                </a:solidFill>
                <a:latin typeface="Arial"/>
              </a:rPr>
              <a:t>Организация заселения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2359152"/>
            <a:ext cx="3575304" cy="9418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4455F"/>
                </a:solidFill>
                <a:latin typeface="Arial"/>
              </a:rPr>
              <a:t>Инструкции, передача ключей, коммуникация с владельцем, поддержка при проблемах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82896" y="3538728"/>
            <a:ext cx="3538728" cy="374904"/>
          </a:xfrm>
          <a:prstGeom prst="roundRect">
            <a:avLst>
              <a:gd name="adj" fmla="val 14000"/>
            </a:avLst>
          </a:prstGeom>
          <a:solidFill>
            <a:srgbClr val="E8D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6047" y="3602736"/>
            <a:ext cx="3401568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3987"/>
                </a:solidFill>
                <a:latin typeface="Arial"/>
              </a:rPr>
              <a:t>Уточнить причины сложностей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88536"/>
            <a:ext cx="8321040" cy="347472"/>
          </a:xfrm>
          <a:prstGeom prst="roundRect">
            <a:avLst>
              <a:gd name="adj" fmla="val 14000"/>
            </a:avLst>
          </a:prstGeom>
          <a:solidFill>
            <a:srgbClr val="DFC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4279392"/>
            <a:ext cx="824788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55F"/>
                </a:solidFill>
                <a:latin typeface="Arial"/>
              </a:rPr>
              <a:t>Рекомендации являются направлениями проверки, а не подтверждёнными фактами о конкретных объектах.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83210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C69"/>
                </a:solidFill>
                <a:latin typeface="Arial"/>
              </a:rPr>
              <a:t>Ограничения и дальнейшее развитие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" y="841248"/>
            <a:ext cx="594360" cy="42976"/>
          </a:xfrm>
          <a:prstGeom prst="rect">
            <a:avLst/>
          </a:prstGeom>
          <a:solidFill>
            <a:srgbClr val="0B2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932688"/>
            <a:ext cx="85039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5B7A"/>
                </a:solidFill>
                <a:latin typeface="Arial"/>
              </a:rPr>
              <a:t>Как сделать результаты более проверяемыми и прикладными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45736"/>
            <a:ext cx="1078992" cy="318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" y="4791456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5B7A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389888"/>
            <a:ext cx="4041648" cy="3118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0" y="1389888"/>
            <a:ext cx="4197096" cy="3118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600200"/>
            <a:ext cx="32918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23987"/>
                </a:solidFill>
                <a:latin typeface="Arial"/>
              </a:rPr>
              <a:t>ОГРАНИЧЕНИЯ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112264"/>
            <a:ext cx="118872" cy="118872"/>
          </a:xfrm>
          <a:prstGeom prst="ellipse">
            <a:avLst/>
          </a:prstGeom>
          <a:solidFill>
            <a:srgbClr val="AD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" y="2002536"/>
            <a:ext cx="3328416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C69"/>
                </a:solidFill>
                <a:latin typeface="Arial"/>
              </a:rPr>
              <a:t>Темы LDA интерпретированы вручную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642616"/>
            <a:ext cx="118872" cy="118872"/>
          </a:xfrm>
          <a:prstGeom prst="ellipse">
            <a:avLst/>
          </a:prstGeom>
          <a:solidFill>
            <a:srgbClr val="AD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2532888"/>
            <a:ext cx="3328416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C69"/>
                </a:solidFill>
                <a:latin typeface="Arial"/>
              </a:rPr>
              <a:t>Фильтрация отдельного кластера эвристическая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172968"/>
            <a:ext cx="118872" cy="118872"/>
          </a:xfrm>
          <a:prstGeom prst="ellipse">
            <a:avLst/>
          </a:prstGeom>
          <a:solidFill>
            <a:srgbClr val="AD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3063239"/>
            <a:ext cx="3328416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C69"/>
                </a:solidFill>
                <a:latin typeface="Arial"/>
              </a:rPr>
              <a:t>Рейтинг и тональность текста - разные сущности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703320"/>
            <a:ext cx="118872" cy="118872"/>
          </a:xfrm>
          <a:prstGeom prst="ellipse">
            <a:avLst/>
          </a:prstGeom>
          <a:solidFill>
            <a:srgbClr val="AD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" y="3593591"/>
            <a:ext cx="3328416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C69"/>
                </a:solidFill>
                <a:latin typeface="Arial"/>
              </a:rPr>
              <a:t>Редкие классы распознаются хуже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60020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23987"/>
                </a:solidFill>
                <a:latin typeface="Arial"/>
              </a:rPr>
              <a:t>СЛЕДУЮЩИЕ ШАГИ</a:t>
            </a:r>
          </a:p>
        </p:txBody>
      </p:sp>
      <p:sp>
        <p:nvSpPr>
          <p:cNvPr id="19" name="Oval 18"/>
          <p:cNvSpPr/>
          <p:nvPr/>
        </p:nvSpPr>
        <p:spPr>
          <a:xfrm>
            <a:off x="4837176" y="2112264"/>
            <a:ext cx="118872" cy="118872"/>
          </a:xfrm>
          <a:prstGeom prst="ellipse">
            <a:avLst/>
          </a:prstGeom>
          <a:solidFill>
            <a:srgbClr val="3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47488" y="2002536"/>
            <a:ext cx="3355848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C69"/>
                </a:solidFill>
                <a:latin typeface="Arial"/>
              </a:rPr>
              <a:t>Ручная проверка разметки и фильтрации</a:t>
            </a:r>
          </a:p>
        </p:txBody>
      </p:sp>
      <p:sp>
        <p:nvSpPr>
          <p:cNvPr id="21" name="Oval 20"/>
          <p:cNvSpPr/>
          <p:nvPr/>
        </p:nvSpPr>
        <p:spPr>
          <a:xfrm>
            <a:off x="4837176" y="2642616"/>
            <a:ext cx="118872" cy="118872"/>
          </a:xfrm>
          <a:prstGeom prst="ellipse">
            <a:avLst/>
          </a:prstGeom>
          <a:solidFill>
            <a:srgbClr val="3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47488" y="2532888"/>
            <a:ext cx="3355848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C69"/>
                </a:solidFill>
                <a:latin typeface="Arial"/>
              </a:rPr>
              <a:t>Уточнение тематических групп</a:t>
            </a:r>
          </a:p>
        </p:txBody>
      </p:sp>
      <p:sp>
        <p:nvSpPr>
          <p:cNvPr id="23" name="Oval 22"/>
          <p:cNvSpPr/>
          <p:nvPr/>
        </p:nvSpPr>
        <p:spPr>
          <a:xfrm>
            <a:off x="4837176" y="3172968"/>
            <a:ext cx="118872" cy="118872"/>
          </a:xfrm>
          <a:prstGeom prst="ellipse">
            <a:avLst/>
          </a:prstGeom>
          <a:solidFill>
            <a:srgbClr val="3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7488" y="3063239"/>
            <a:ext cx="3355848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C69"/>
                </a:solidFill>
                <a:latin typeface="Arial"/>
              </a:rPr>
              <a:t>Балансировка классов и повторная оценка</a:t>
            </a:r>
          </a:p>
        </p:txBody>
      </p:sp>
      <p:sp>
        <p:nvSpPr>
          <p:cNvPr id="25" name="Oval 24"/>
          <p:cNvSpPr/>
          <p:nvPr/>
        </p:nvSpPr>
        <p:spPr>
          <a:xfrm>
            <a:off x="4837176" y="3703320"/>
            <a:ext cx="118872" cy="118872"/>
          </a:xfrm>
          <a:prstGeom prst="ellipse">
            <a:avLst/>
          </a:prstGeom>
          <a:solidFill>
            <a:srgbClr val="3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47488" y="3593591"/>
            <a:ext cx="3355848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C69"/>
                </a:solidFill>
                <a:latin typeface="Arial"/>
              </a:rPr>
              <a:t>Мониторинг динамики отзывов во времени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9456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19456"/>
            <a:ext cx="4224528" cy="5394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C69"/>
                </a:solidFill>
                <a:latin typeface="Arial"/>
              </a:rPr>
              <a:t>ЦЕНТР НЕПРЕРЫВНОГО ОБРАЗОВАНИЯ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C69"/>
                </a:solidFill>
                <a:latin typeface="Arial"/>
              </a:rPr>
              <a:t>ФАКУЛЬТЕТ КОМПЬЮТЕРНЫХ НАУК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34440"/>
            <a:ext cx="8275320" cy="3291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7644383" cy="1517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2C69"/>
                </a:solidFill>
                <a:latin typeface="Arial"/>
              </a:rPr>
              <a:t>Текст отзывов дополняет рейтинг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2C69"/>
                </a:solidFill>
                <a:latin typeface="Arial"/>
              </a:rPr>
              <a:t>и помогает находить конкретные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2C69"/>
                </a:solidFill>
                <a:latin typeface="Arial"/>
              </a:rPr>
              <a:t>проблемные аспекты проживания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3346704"/>
            <a:ext cx="7214616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4455F"/>
                </a:solidFill>
                <a:latin typeface="Arial"/>
              </a:rPr>
              <a:t>Приоритет для проверки: оснащение жилья и организация заселения.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4160520"/>
            <a:ext cx="438912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23987"/>
                </a:solidFill>
                <a:latin typeface="Arial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1427</Words>
  <Application>Microsoft Office PowerPoint</Application>
  <PresentationFormat>Экран (16:9)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Play</vt:lpstr>
      <vt:lpstr>Simple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stepy93@outlook.com</cp:lastModifiedBy>
  <cp:revision>1</cp:revision>
  <dcterms:modified xsi:type="dcterms:W3CDTF">2026-10-14T18:42:39Z</dcterms:modified>
</cp:coreProperties>
</file>